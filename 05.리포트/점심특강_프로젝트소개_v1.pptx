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C4452C">
              <a:alpha val="25000"/>
            </a:srgbClr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743200"/>
            <a:ext cx="4572000" cy="4572000"/>
          </a:xfrm>
          <a:prstGeom prst="ellipse">
            <a:avLst/>
          </a:prstGeom>
          <a:solidFill>
            <a:srgbClr val="C4452C">
              <a:alpha val="15000"/>
            </a:srgbClr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INTRODUCTION  ·  PRD v1.0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점심특강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DE0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 Special Lecture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점심, 어디서 먹지? — 5초 안에 결정하는 위치 기반 맛집 앱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5120640"/>
            <a:ext cx="4572000" cy="0"/>
          </a:xfrm>
          <a:prstGeom prst="line">
            <a:avLst/>
          </a:prstGeom>
          <a:noFill/>
          <a:ln w="254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C3BD"/>
                </a:solidFill>
              </a:rPr>
              <a:t>발표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점심특강 기획팀</a:t>
            </a:r>
            <a:endParaRPr lang="en-US" sz="1100" dirty="0"/>
          </a:p>
          <a:p>
            <a:pPr indent="0" marL="0">
              <a:buNone/>
            </a:pPr>
            <a:r>
              <a:rPr lang="en-US" sz="1100" spc="400" kern="0" dirty="0">
                <a:solidFill>
                  <a:srgbClr val="C9C3BD"/>
                </a:solidFill>
              </a:rPr>
              <a:t>문서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PRD v1.0  ·  2026-05-24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2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프로젝트 개요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기본 정보, 팀 구성, 일정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2651760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24912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249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비전과 문제 정의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044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왜 이 서비스를 만드는가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3364992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8144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381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타겟 사용자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직장인 · 주부 · 사장님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4078224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51376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513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4169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핵심 기능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4714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소비자 앱 + 사장님 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0" y="4791456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864608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864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45920" y="4882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KPI · 비즈니스 모델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45920" y="5184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6개월 목표와 수익 구조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45920" y="5504688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577840"/>
            <a:ext cx="822960" cy="5486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645920" y="5596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출시 전략 · 리스크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4592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Phase 1~3 + 대응 방안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6217920"/>
            <a:ext cx="1005840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3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389120" cy="420624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DE0C6"/>
                </a:solidFill>
              </a:rPr>
              <a:t>Project at a Glance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점심특강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 Special Lecture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280160" cy="0"/>
          </a:xfrm>
          <a:prstGeom prst="line">
            <a:avLst/>
          </a:prstGeom>
          <a:noFill/>
          <a:ln w="19050">
            <a:solidFill>
              <a:srgbClr val="FAF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기반 점심특선 · 쿠폰 · 광고를 통합한 양면 시장 플랫폼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92024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프로젝트명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점심특강 (Lunch Special Lecture)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2606040"/>
            <a:ext cx="6400800" cy="640080"/>
          </a:xfrm>
          <a:prstGeom prst="rect">
            <a:avLst/>
          </a:prstGeom>
          <a:solidFill>
            <a:srgbClr val="EDE0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주관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내부 신규 사업 · 자체 서비스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0" y="329184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팀 구성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3337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PM 1 · 기획 1 · 디자인 2 · 개발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3977640"/>
            <a:ext cx="6400800" cy="640080"/>
          </a:xfrm>
          <a:prstGeom prst="rect">
            <a:avLst/>
          </a:prstGeom>
          <a:solidFill>
            <a:srgbClr val="EDE0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기간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6개월 (MVP 5개월 + 안정화 1개월)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4663440"/>
            <a:ext cx="6400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4709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예산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4709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3억 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5349240"/>
            <a:ext cx="6400800" cy="640080"/>
          </a:xfrm>
          <a:prstGeom prst="rect">
            <a:avLst/>
          </a:prstGeom>
          <a:solidFill>
            <a:srgbClr val="EDE0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2C"/>
                </a:solidFill>
              </a:rPr>
              <a:t>기술 스택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5394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5"/>
                </a:solidFill>
              </a:rPr>
              <a:t>Next.js · Tailwind / Express.js / PostgreSQL / Vercel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4452C"/>
                </a:solidFill>
              </a:rPr>
              <a:t>02  · 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4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점심, 어디서 먹지?"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10312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라는 일상의 고민을 5초 안에 해결하고,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동네 식당의 빈 좌석을 채우는 가장 효율적인 마케팅 도구가 된다.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03120" y="4572000"/>
            <a:ext cx="1097280" cy="0"/>
          </a:xfrm>
          <a:prstGeom prst="line">
            <a:avLst/>
          </a:prstGeom>
          <a:noFill/>
          <a:ln w="254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031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DE0C6"/>
                </a:solidFill>
              </a:rPr>
              <a:t>의사결정 시간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위치기반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3035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DE0C6"/>
                </a:solidFill>
              </a:rPr>
              <a:t>500m 반경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양면 시장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DE0C6"/>
                </a:solidFill>
              </a:rPr>
              <a:t>소비자 + 식당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4922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각 사용자 그룹이 매일 마주하는 페인포인트를 해소합니다.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91440" cy="3657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43200"/>
            <a:ext cx="822960" cy="8229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8036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703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직장인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452C"/>
                </a:solidFill>
              </a:rPr>
              <a:t>점심시간 1시간, 회사 주변 식당 선택지가 한정적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5212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어디가 오늘 어떤 메뉴를 특가로 제공하는지 알기 어렵다.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8056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2377440"/>
            <a:ext cx="91440" cy="3657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743200"/>
            <a:ext cx="822960" cy="8229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8036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46320" y="3703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주부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846320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452C"/>
                </a:solidFill>
              </a:rPr>
              <a:t>가족 외식 시 합리적 가격 정보가 분산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846320" y="5212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여러 앱과 블로그를 돌아다녀야 한다.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412480" y="237744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12480" y="2377440"/>
            <a:ext cx="91440" cy="3657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78240" y="2743200"/>
            <a:ext cx="822960" cy="8229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88036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78240" y="3703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식당 사장님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778240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4452C"/>
                </a:solidFill>
              </a:rPr>
              <a:t>전단지·블로그 광고는 ROI가 낮음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778240" y="5212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실제 유입 측정이 어렵고 비수기 시간대 빈 좌석이 많다.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TARGET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6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사용자  ·  3종 페르소나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74520"/>
            <a:ext cx="3611880" cy="4572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</a:rPr>
              <a:t>PRIMARY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14500" y="265176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880360"/>
            <a:ext cx="822960" cy="822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김대리, 29세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60"/>
                </a:solidFill>
              </a:rPr>
              <a:t>직장인 / IT 회사 대리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4754880"/>
            <a:ext cx="214884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892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점심시간 1시간, 회사 반경 500m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동료와 함께 결정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가격 8,000~12,000원 선호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3611880" cy="45720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73328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452C"/>
                </a:solidFill>
              </a:rPr>
              <a:t>NEEDS  </a:t>
            </a:r>
            <a:pPr indent="0" marL="0">
              <a:buNone/>
            </a:pPr>
            <a:r>
              <a:rPr lang="en-US" sz="1100" dirty="0">
                <a:solidFill>
                  <a:srgbClr val="2C2825"/>
                </a:solidFill>
              </a:rPr>
              <a:t>빠른 의사결정 · 가성비 · 새로운 메뉴 발견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80560" y="18745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1874520"/>
            <a:ext cx="3611880" cy="457200"/>
          </a:xfrm>
          <a:prstGeom prst="rect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</a:rPr>
              <a:t>SECONDARY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46420" y="265176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880360"/>
            <a:ext cx="822960" cy="8229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5488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이미경, 42세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75488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60"/>
                </a:solidFill>
              </a:rPr>
              <a:t>주부 / 가족 외식 결정자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212080" y="4754880"/>
            <a:ext cx="214884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46320" y="4892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자녀 하교 후 모임 약속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가족 단위 방문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쿠폰·할인에 민감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480560" y="5715000"/>
            <a:ext cx="3611880" cy="45720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573328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452C"/>
                </a:solidFill>
              </a:rPr>
              <a:t>NEEDS  </a:t>
            </a:r>
            <a:pPr indent="0" marL="0">
              <a:buNone/>
            </a:pPr>
            <a:r>
              <a:rPr lang="en-US" sz="1100" dirty="0">
                <a:solidFill>
                  <a:srgbClr val="2C2825"/>
                </a:solidFill>
              </a:rPr>
              <a:t>가족 친화적 식당 · 할인 정보 · 리뷰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412480" y="18745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412480" y="1874520"/>
            <a:ext cx="3611880" cy="4572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8680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</a:rPr>
              <a:t>SUPPLIER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578340" y="265176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2880360"/>
            <a:ext cx="822960" cy="8229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868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박사장, 50세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68680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660"/>
                </a:solidFill>
              </a:rPr>
              <a:t>식당 사장님 / 30석 한식당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9144000" y="4754880"/>
            <a:ext cx="214884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778240" y="4892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점심 피크 외 좌석 비어있음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광고 ROI 측정 어려움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C2825"/>
                </a:solidFill>
              </a:rPr>
              <a:t>저비용 마케팅 선호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412480" y="5715000"/>
            <a:ext cx="3611880" cy="45720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686800" y="573328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452C"/>
                </a:solidFill>
              </a:rPr>
              <a:t>NEEDS  </a:t>
            </a:r>
            <a:pPr indent="0" marL="0">
              <a:buNone/>
            </a:pPr>
            <a:r>
              <a:rPr lang="en-US" sz="1100" dirty="0">
                <a:solidFill>
                  <a:srgbClr val="2C2825"/>
                </a:solidFill>
              </a:rPr>
              <a:t>신규 고객 유입 · 단골 확보 · 빈 좌석 채우기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7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 제안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각 이해관계자에게 제공하는 차별화된 가치를 한 줄로 정리합니다.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2926080" cy="10515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7063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DE0C6"/>
                </a:solidFill>
              </a:rPr>
              <a:t>FOR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5448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직장인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74904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2825"/>
                </a:solidFill>
              </a:rPr>
              <a:t>점심시간 안에 빠르게 가성비 좋은 식당 발견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703320"/>
            <a:ext cx="2926080" cy="10515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00507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DE0C6"/>
                </a:solidFill>
              </a:rPr>
              <a:t>FOR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5544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주부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374904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2825"/>
                </a:solidFill>
              </a:rPr>
              <a:t>가족 식사 · 모임을 위한 합리적 가격대의 식당 탐색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4937760"/>
            <a:ext cx="2926080" cy="10515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23951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5448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DE0C6"/>
                </a:solidFill>
              </a:rPr>
              <a:t>FOR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554480" y="5349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식당 사장님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3749040" y="5212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2825"/>
                </a:solidFill>
              </a:rPr>
              <a:t>점심 비수기 좌석 회전율 상승 · 신규 고객 확보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CORE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8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 ·  소비자 앱 + 사장님 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</a:rPr>
              <a:t>소비자 앱  /  USER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8E73"/>
                </a:solidFill>
              </a:rPr>
              <a:t>사장님 앱  /  OWNER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73152" cy="12801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68880"/>
            <a:ext cx="731520" cy="731520"/>
          </a:xfrm>
          <a:prstGeom prst="ellipse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52C"/>
                </a:solidFill>
              </a:rPr>
              <a:t>F1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위치 기반 식당 탐색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8288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반경(500m/1km/2km) 지도+리스트, 카테고리 필터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611880"/>
            <a:ext cx="73152" cy="12801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3886200"/>
            <a:ext cx="731520" cy="731520"/>
          </a:xfrm>
          <a:prstGeom prst="ellipse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02336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2880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52C"/>
                </a:solidFill>
              </a:rPr>
              <a:t>F2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82880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점심특선 한눈에 보기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8288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오늘의 특선 피드, 가격·할인율 카드, 실시간 영업 상태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2920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14400" y="5303520"/>
            <a:ext cx="731520" cy="731520"/>
          </a:xfrm>
          <a:prstGeom prst="ellipse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44068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82880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52C"/>
                </a:solidFill>
              </a:rPr>
              <a:t>F3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828800" y="5486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제휴 쿠폰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828800" y="5897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발급/사용/만료 관리, QR/바코드 제시, 사용 알림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035040" y="219456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035040" y="2194560"/>
            <a:ext cx="73152" cy="1280160"/>
          </a:xfrm>
          <a:prstGeom prst="rect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00800" y="2468880"/>
            <a:ext cx="731520" cy="731520"/>
          </a:xfrm>
          <a:prstGeom prst="ellipse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0604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1520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8E73"/>
                </a:solidFill>
              </a:rPr>
              <a:t>F4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31520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매장 · 특선 관리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73152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사업자 인증, 일별/요일별 특선 등록, 즉시/예약 발행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035040" y="36118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035040" y="3611880"/>
            <a:ext cx="73152" cy="1280160"/>
          </a:xfrm>
          <a:prstGeom prst="rect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400800" y="3886200"/>
            <a:ext cx="731520" cy="731520"/>
          </a:xfrm>
          <a:prstGeom prst="ellipse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02336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31520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8E73"/>
                </a:solidFill>
              </a:rPr>
              <a:t>F5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731520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825"/>
                </a:solidFill>
              </a:rPr>
              <a:t>쿠폰 발행 · 통계</a:t>
            </a:r>
            <a:endParaRPr lang="en-US" sz="1800" dirty="0"/>
          </a:p>
        </p:txBody>
      </p:sp>
      <p:sp>
        <p:nvSpPr>
          <p:cNvPr id="43" name="Text 36"/>
          <p:cNvSpPr/>
          <p:nvPr/>
        </p:nvSpPr>
        <p:spPr>
          <a:xfrm>
            <a:off x="73152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%/원 쿠폰, 신규/단골 타게팅, 일·주·월 통계 대시보드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6035040" y="5029200"/>
            <a:ext cx="5577840" cy="141732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30936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Phase 3 — 광고 상품 (F6)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6309360" y="5623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위치 기반 상단 노출 · 카테고리 추천 · 효율 리포트 (노출/클릭/방문 전환)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PRIORITIZATION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9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우선순위  ·  MoSCoW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MVP부터 Phase 3까지의 기능 범위를 명확히 구분합니다.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5532120" cy="41148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</a:rPr>
              <a:t>MUST HAVE  ·  MVP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위치 기반 탐색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점심특선 피드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제휴 쿠폰 (발급/사용)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매장 등록·관리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점심특선 등록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쿠폰 발행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286000"/>
            <a:ext cx="5532120" cy="411480"/>
          </a:xfrm>
          <a:prstGeom prst="rect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</a:rPr>
              <a:t>SHOULD HAVE  ·  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리뷰·평점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즐겨찾기·알림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통계 대시보드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51960"/>
            <a:ext cx="5532120" cy="411480"/>
          </a:xfrm>
          <a:prstGeom prst="rect">
            <a:avLst/>
          </a:prstGeom>
          <a:solidFill>
            <a:srgbClr val="8C7B5A"/>
          </a:solidFill>
          <a:ln w="12700">
            <a:solidFill>
              <a:srgbClr val="8C7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</a:rPr>
              <a:t>COULD HAVE  ·  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광고 상품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친구 초대·공유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카카오/네이버 페이 결제 연동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25196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4251960"/>
            <a:ext cx="5532120" cy="411480"/>
          </a:xfrm>
          <a:prstGeom prst="rect">
            <a:avLst/>
          </a:prstGeom>
          <a:solidFill>
            <a:srgbClr val="8B6258"/>
          </a:solidFill>
          <a:ln w="12700">
            <a:solidFill>
              <a:srgbClr val="8B62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51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</a:rPr>
              <a:t>WON'T HAVE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배달 기능 (방문 전용 포지셔닝)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C2825"/>
                </a:solidFill>
              </a:rPr>
              <a:t>테이블 예약 시스템 (Phase 4 검토)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10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·  6개월 1차 목표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출시 후 6개월 시점의 핵심 성과 지표입니다.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18541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2185416" cy="228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사용자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4754880"/>
            <a:ext cx="1271016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MAU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6636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월간 활성 사용자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2468880"/>
            <a:ext cx="218541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52928" y="2468880"/>
            <a:ext cx="2185416" cy="228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28346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사용자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44368" y="3246120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2944368" y="43434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2C"/>
                </a:solidFill>
              </a:rPr>
              <a:t>%+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10128" y="4754880"/>
            <a:ext cx="1271016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4846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DAU / MAU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44368" y="516636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리텐션 비율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57216" y="2468880"/>
            <a:ext cx="218541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57216" y="2468880"/>
            <a:ext cx="2185416" cy="228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0096" y="28346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식당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48656" y="3246120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5248656" y="43434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14416" y="4754880"/>
            <a:ext cx="1271016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4846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등록 매장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48656" y="516636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서울 오피스 + 수도권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61504" y="2468880"/>
            <a:ext cx="218541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61504" y="2468880"/>
            <a:ext cx="2185416" cy="228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28346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거래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52944" y="3246120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6400" dirty="0"/>
          </a:p>
        </p:txBody>
      </p:sp>
      <p:sp>
        <p:nvSpPr>
          <p:cNvPr id="36" name="Text 34"/>
          <p:cNvSpPr/>
          <p:nvPr/>
        </p:nvSpPr>
        <p:spPr>
          <a:xfrm>
            <a:off x="7552944" y="43434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2C"/>
                </a:solidFill>
              </a:rPr>
              <a:t>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918704" y="4754880"/>
            <a:ext cx="1271016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4846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쿠폰 사용률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52944" y="516636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발급 대비 사용 비율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65792" y="2468880"/>
            <a:ext cx="218541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765792" y="2468880"/>
            <a:ext cx="2185416" cy="2286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48672" y="28346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매출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57232" y="3246120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6400" dirty="0"/>
          </a:p>
        </p:txBody>
      </p:sp>
      <p:sp>
        <p:nvSpPr>
          <p:cNvPr id="44" name="Text 42"/>
          <p:cNvSpPr/>
          <p:nvPr/>
        </p:nvSpPr>
        <p:spPr>
          <a:xfrm>
            <a:off x="9857232" y="43434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2C"/>
                </a:solidFill>
              </a:rPr>
              <a:t>만원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222992" y="4754880"/>
            <a:ext cx="1271016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57232" y="4846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825"/>
                </a:solidFill>
              </a:rPr>
              <a:t>월 광고 매출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857232" y="516636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메인 수익원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11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모델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3가지 수익원을 통해 양면 시장에서 지속 가능한 수익 구조를 만듭니다.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MAIN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660"/>
                </a:solidFill>
              </a:rPr>
              <a:t>60%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60220" y="315468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383280"/>
            <a:ext cx="777240" cy="777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4572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광고 수익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960" y="5074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452C"/>
                </a:solidFill>
              </a:rPr>
              <a:t>식당 상단 노출 · 추천 광고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5577840"/>
            <a:ext cx="187452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760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점심 시간대 특정 카테고리/위치 노출 광고. 노출-클릭-방문 전환 리포트 제공.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34840" y="237744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2377440"/>
            <a:ext cx="1097280" cy="3657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TX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4944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660"/>
                </a:solidFill>
              </a:rPr>
              <a:t>25%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46420" y="315468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383280"/>
            <a:ext cx="777240" cy="7772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09160" y="4572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쿠폰 발행 수수료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4709160" y="5074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452C"/>
                </a:solidFill>
              </a:rPr>
              <a:t>사용 건당 정액 / 정률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349240" y="5577840"/>
            <a:ext cx="187452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00600" y="5760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쿠폰이 실제로 사용된 건만 과금하는 성과 기반 모델. 식당 부담을 최소화.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321040" y="2377440"/>
            <a:ext cx="3703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21040" y="2377440"/>
            <a:ext cx="1097280" cy="36576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210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SUB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83564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660"/>
                </a:solidFill>
              </a:rPr>
              <a:t>15%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9532620" y="3154680"/>
            <a:ext cx="1280160" cy="128016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3383280"/>
            <a:ext cx="777240" cy="7772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595360" y="4572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프리미엄 멤버십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8595360" y="5074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452C"/>
                </a:solidFill>
              </a:rPr>
              <a:t>사장님 구독 모델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9235440" y="5577840"/>
            <a:ext cx="1874520" cy="0"/>
          </a:xfrm>
          <a:prstGeom prst="line">
            <a:avLst/>
          </a:prstGeom>
          <a:noFill/>
          <a:ln w="6350">
            <a:solidFill>
              <a:srgbClr val="C9C3B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86800" y="5760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통계 고급 리포트 · 무제한 쿠폰 발행 · 우선 노출. 월 정액 구독.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12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출시 전략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지역 확장과 기능 고도화를 단계적으로 진행합니다.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069080"/>
            <a:ext cx="9509760" cy="54864"/>
          </a:xfrm>
          <a:prstGeom prst="rect">
            <a:avLst/>
          </a:prstGeom>
          <a:solidFill>
            <a:srgbClr val="C9C3BD"/>
          </a:solidFill>
          <a:ln w="12700">
            <a:solidFill>
              <a:srgbClr val="C9C3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52C"/>
                </a:solidFill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M1 ~ M3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MVP 출시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3000" y="3246120"/>
            <a:ext cx="822960" cy="0"/>
          </a:xfrm>
          <a:prstGeom prst="line">
            <a:avLst/>
          </a:prstGeom>
          <a:noFill/>
          <a:ln w="25400">
            <a:solidFill>
              <a:srgbClr val="C44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660"/>
                </a:solidFill>
              </a:rPr>
              <a:t>서울 강남·여의도 오피스 지역 한정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41448" y="3977640"/>
            <a:ext cx="329184" cy="329184"/>
          </a:xfrm>
          <a:prstGeom prst="ellipse">
            <a:avLst/>
          </a:prstGeom>
          <a:solidFill>
            <a:srgbClr val="C4452C"/>
          </a:solidFill>
          <a:ln w="25400">
            <a:solidFill>
              <a:srgbClr val="FAF3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617720"/>
            <a:ext cx="3383280" cy="169164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52C"/>
                </a:solidFill>
              </a:rPr>
              <a:t>주요 활동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MVP 6개 기능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사장님 직접 영업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초기 고객 확보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8E73"/>
                </a:solidFill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M4 ~ M6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서울 전역 확대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937760" y="3246120"/>
            <a:ext cx="822960" cy="0"/>
          </a:xfrm>
          <a:prstGeom prst="line">
            <a:avLst/>
          </a:prstGeom>
          <a:noFill/>
          <a:ln w="25400">
            <a:solidFill>
              <a:srgbClr val="6B8E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660"/>
                </a:solidFill>
              </a:rPr>
              <a:t>리뷰 · 알림 기능 추가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6208" y="3977640"/>
            <a:ext cx="329184" cy="329184"/>
          </a:xfrm>
          <a:prstGeom prst="ellipse">
            <a:avLst/>
          </a:prstGeom>
          <a:solidFill>
            <a:srgbClr val="6B8E73"/>
          </a:solidFill>
          <a:ln w="25400">
            <a:solidFill>
              <a:srgbClr val="FAF3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4617720"/>
            <a:ext cx="3383280" cy="169164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8E73"/>
                </a:solidFill>
              </a:rPr>
              <a:t>주요 활동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9834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Should Have 기능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맘카페·엘리베이터 광고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리텐션 강화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219456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3252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2E1F"/>
                </a:solidFill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7844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660"/>
                </a:solidFill>
              </a:rPr>
              <a:t>M7 ~ M12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25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825"/>
                </a:solidFill>
              </a:rPr>
              <a:t>수도권 확대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732520" y="3246120"/>
            <a:ext cx="822960" cy="0"/>
          </a:xfrm>
          <a:prstGeom prst="line">
            <a:avLst/>
          </a:prstGeom>
          <a:noFill/>
          <a:ln w="25400">
            <a:solidFill>
              <a:srgbClr val="8B2E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660"/>
                </a:solidFill>
              </a:rPr>
              <a:t>광고 상품 정식 런칭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30968" y="3977640"/>
            <a:ext cx="329184" cy="329184"/>
          </a:xfrm>
          <a:prstGeom prst="ellipse">
            <a:avLst/>
          </a:prstGeom>
          <a:solidFill>
            <a:srgbClr val="8B2E1F"/>
          </a:solidFill>
          <a:ln w="25400">
            <a:solidFill>
              <a:srgbClr val="FAF3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4617720"/>
            <a:ext cx="3383280" cy="169164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</a:rPr>
              <a:t>주요 활동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3960" y="49834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Could Have 기능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광고 매출 본격화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C2825"/>
                </a:solidFill>
              </a:rPr>
              <a:t>지역 영업 인력 확대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RISK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13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및 대응 방안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사전 식별한 4가지 핵심 리스크와 대응 전략입니다.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</a:rPr>
              <a:t>리스크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</a:rPr>
              <a:t>영향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</a:rPr>
              <a:t>대응 방안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88920"/>
            <a:ext cx="91440" cy="73152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825"/>
                </a:solidFill>
              </a:rPr>
              <a:t>식당 등록 부진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콘텐츠 부족 → 사용자 이탈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E73"/>
                </a:solidFill>
              </a:rPr>
              <a:t>초기 6개월 등록 수수료 무료 · 영업팀 강화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EDE0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66160"/>
            <a:ext cx="91440" cy="73152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825"/>
                </a:solidFill>
              </a:rPr>
              <a:t>쿠폰 악용 (양도/도용)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식당 손실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E73"/>
                </a:solidFill>
              </a:rPr>
              <a:t>본인 인증 · 1일 사용 횟수 제한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43400"/>
            <a:ext cx="91440" cy="73152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89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825"/>
                </a:solidFill>
              </a:rPr>
              <a:t>점심 외 시간 사용률 저조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DAU 한계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389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E73"/>
                </a:solidFill>
              </a:rPr>
              <a:t>Phase 2 저녁/주말 특선 단계적 확장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EDE0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20640"/>
            <a:ext cx="91440" cy="73152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825"/>
                </a:solidFill>
              </a:rPr>
              <a:t>배달 앱과의 경쟁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5166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사용자 분산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E73"/>
                </a:solidFill>
              </a:rPr>
              <a:t>"방문 외식" 포지셔닝 강화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TECHNICAL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14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· 비기능 요건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52C"/>
                </a:solidFill>
              </a:rPr>
              <a:t>TECH STACK  ·  V0.42 표준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91440" cy="6858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2C"/>
                </a:solidFill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Next.js + Tailwind CSS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91440" cy="6858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2C"/>
                </a:solidFill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Express.js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91440" cy="6858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86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2C"/>
                </a:solidFill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PostgreSQL (Supabase)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72000"/>
            <a:ext cx="91440" cy="6858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2C"/>
                </a:solidFill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663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Vercel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8E73"/>
                </a:solidFill>
              </a:rPr>
              <a:t>NON-FUNCTIONAL REQUIREMENTS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24028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2359152"/>
            <a:ext cx="457200" cy="45720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423160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3232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8E73"/>
                </a:solidFill>
              </a:rPr>
              <a:t>성능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3816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825"/>
                </a:solidFill>
              </a:rPr>
              <a:t>리스트 로딩 1초 이내 · 동시 10만 명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301752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37960" y="3136392"/>
            <a:ext cx="457200" cy="45720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200400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3232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8E73"/>
                </a:solidFill>
              </a:rPr>
              <a:t>보안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1381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825"/>
                </a:solidFill>
              </a:rPr>
              <a:t>사업자 인증 · 개인정보 암호화 · HTTPS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400800" y="379476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537960" y="3913632"/>
            <a:ext cx="457200" cy="45720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977640"/>
            <a:ext cx="329184" cy="3291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13232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8E73"/>
                </a:solidFill>
              </a:rPr>
              <a:t>가용성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13816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825"/>
                </a:solidFill>
              </a:rPr>
              <a:t>99.5% uptime · 점심(11~14시) 100%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400800" y="4572000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537960" y="4690872"/>
            <a:ext cx="457200" cy="457200"/>
          </a:xfrm>
          <a:prstGeom prst="ellipse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754880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132320" y="4663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8E73"/>
                </a:solidFill>
              </a:rPr>
              <a:t>접근성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8138160" y="4663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825"/>
                </a:solidFill>
              </a:rPr>
              <a:t>큰 글씨 모드 · 시각 약자 대응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EDE0C6"/>
          </a:solidFill>
          <a:ln w="12700">
            <a:solidFill>
              <a:srgbClr val="EDE0C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31520" y="58704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2C"/>
                </a:solidFill>
              </a:rPr>
              <a:t>COMPATIBILITY  </a:t>
            </a:r>
            <a:pPr indent="0" marL="0">
              <a:buNone/>
            </a:pPr>
            <a:r>
              <a:rPr lang="en-US" sz="1200" dirty="0">
                <a:solidFill>
                  <a:srgbClr val="2C2825"/>
                </a:solidFill>
              </a:rPr>
              <a:t>iOS 14+  ·  Android 9+  ·  모바일 반응형 웹 (Next.js)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15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48640" cy="36576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 ·  주차별 산출물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60"/>
                </a:solidFill>
              </a:rPr>
              <a:t>점심특강  ·  Lunch Special Lecture  ·  PRD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660"/>
                </a:solidFill>
              </a:rPr>
              <a:t>PRD 승인 후 W1부터 시작하는 산출물 로드맵입니다 (AP-Framework V0.42).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868680" cy="621792"/>
          </a:xfrm>
          <a:prstGeom prst="rect">
            <a:avLst/>
          </a:prstGeom>
          <a:solidFill>
            <a:srgbClr val="6B8E73"/>
          </a:solidFill>
          <a:ln w="12700">
            <a:solidFill>
              <a:srgbClr val="6B8E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셋업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통합자료실 · NotebookLM 연동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242316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8E73"/>
                </a:solidFill>
              </a:rPr>
              <a:t>✓ 완료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11064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90672"/>
            <a:ext cx="868680" cy="621792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관리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318211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착수보고서 · WBS · 주간보고서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0" y="313639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진행 예정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03904"/>
            <a:ext cx="11064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03904"/>
            <a:ext cx="868680" cy="621792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기획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3895344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마켓리서치 · 서비스기획 · 요구사항 · 기능 · API · 화면설계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0" y="38496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진행 예정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17136"/>
            <a:ext cx="11064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517136"/>
            <a:ext cx="868680" cy="621792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1713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46085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구현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74720" y="460857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인프라 · 시스템정의 · DB설계 · 디자인 + 코드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0" y="456285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진행 예정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30368"/>
            <a:ext cx="11064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5230368"/>
            <a:ext cx="868680" cy="621792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2303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1640" y="5321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825"/>
                </a:solidFill>
              </a:rPr>
              <a:t>검수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474720" y="532180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60"/>
                </a:solidFill>
              </a:rPr>
              <a:t>테스트시나리오 · 결과보고 · CI/CD · 완료보고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8480" y="527608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60"/>
                </a:solidFill>
              </a:rPr>
              <a:t>진행 예정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61447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DE0C6"/>
                </a:solidFill>
              </a:rPr>
              <a:t>NEXT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PRD 승인 → 착수보고서 작성 → WBS 수립 → W3 기획 산출물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452C"/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C4452C">
              <a:alpha val="20000"/>
            </a:srgbClr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2743200"/>
            <a:ext cx="3657600" cy="3657600"/>
          </a:xfrm>
          <a:prstGeom prst="ellipse">
            <a:avLst/>
          </a:prstGeom>
          <a:solidFill>
            <a:srgbClr val="C4452C">
              <a:alpha val="12000"/>
            </a:srgbClr>
          </a:solidFill>
          <a:ln w="12700">
            <a:solidFill>
              <a:srgbClr val="C4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함께 오늘의 점심을 5초 안에 결정하는 미래를 만듭니다.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3657600" cy="0"/>
          </a:xfrm>
          <a:prstGeom prst="line">
            <a:avLst/>
          </a:prstGeom>
          <a:noFill/>
          <a:ln w="25400">
            <a:solidFill>
              <a:srgbClr val="C44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spc="400" kern="0" dirty="0">
                <a:solidFill>
                  <a:srgbClr val="EDE0C6"/>
                </a:solidFill>
              </a:rPr>
              <a:t>CONTACT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점심특강 기획팀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spc="400" kern="0" dirty="0">
                <a:solidFill>
                  <a:srgbClr val="EDE0C6"/>
                </a:solidFill>
              </a:rPr>
              <a:t>GITHUB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github.com/kyungwon2024/Lunch-Special-Lecture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spc="400" kern="0" dirty="0">
                <a:solidFill>
                  <a:srgbClr val="EDE0C6"/>
                </a:solidFill>
              </a:rPr>
              <a:t>DOC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PRD v1.0  ·  2026-05-24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점심특강 (Lunch Special Lecture) 프로젝트 소개</dc:title>
  <dc:subject>PptxGenJS Presentation</dc:subject>
  <dc:creator>점심특강 기획팀</dc:creator>
  <cp:lastModifiedBy>점심특강 기획팀</cp:lastModifiedBy>
  <cp:revision>1</cp:revision>
  <dcterms:created xsi:type="dcterms:W3CDTF">2026-05-24T06:47:43Z</dcterms:created>
  <dcterms:modified xsi:type="dcterms:W3CDTF">2026-05-24T06:47:43Z</dcterms:modified>
</cp:coreProperties>
</file>