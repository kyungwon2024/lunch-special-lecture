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11827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11827"/>
                </a:solidFill>
                <a:latin typeface="Arial"/>
              </a:rPr>
              <a:t>수익원 구조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수익원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8F00"/>
              </a:solidFill>
              <a:effectLst/>
            </c:spPr>
          </c:dPt>
          <c:dPt>
            <c:idx val="1"/>
            <c:bubble3D val="0"/>
            <c:spPr>
              <a:solidFill>
                <a:srgbClr val="2E7D32"/>
              </a:solidFill>
              <a:effectLst/>
            </c:spPr>
          </c:dPt>
          <c:dPt>
            <c:idx val="2"/>
            <c:bubble3D val="0"/>
            <c:spPr>
              <a:solidFill>
                <a:srgbClr val="E53935"/>
              </a:solidFill>
              <a:effectLst/>
            </c:spPr>
          </c:dPt>
          <c:dPt>
            <c:idx val="3"/>
            <c:bubble3D val="0"/>
            <c:spPr>
              <a:solidFill>
                <a:srgbClr val="1E3A5F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광고 60%</c:v>
                </c:pt>
                <c:pt idx="1">
                  <c:v>쿠폰 수수료 25%</c:v>
                </c:pt>
                <c:pt idx="2">
                  <c:v>Pro 멤버십 10%</c:v>
                </c:pt>
                <c:pt idx="3">
                  <c:v>B2B 5%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60</c:v>
                </c:pt>
                <c:pt idx="1">
                  <c:v>25</c:v>
                </c:pt>
                <c:pt idx="2">
                  <c:v>10</c:v>
                </c:pt>
                <c:pt idx="3">
                  <c:v>5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74151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828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F8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SERVICE PLAN · v1.0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33172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점심특강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400" y="36118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FFB7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Lunch Special Lecture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44348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"오늘 점심, 5초면 끝."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4937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점심 시간대 × 위치 기반 × 일반 식당의 쿠폰형 마감할인 플랫폼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5943600"/>
            <a:ext cx="3657600" cy="0"/>
          </a:xfrm>
          <a:prstGeom prst="line">
            <a:avLst/>
          </a:prstGeom>
          <a:noFill/>
          <a:ln w="19050">
            <a:solidFill>
              <a:srgbClr val="FF8F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6080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작성일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2026-05-31  ·  </a:t>
            </a:r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PM (점심특강 기획팀)  ·  </a:t>
            </a:r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착수보고서 v1.2 + 마켓리서치 v1.1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4114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8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Agenda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3949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828800"/>
            <a:ext cx="73152" cy="868680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901952"/>
            <a:ext cx="7315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8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645920" y="1920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Executive Summary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45920" y="22677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 요약 + 6개월 KPI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53949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17920" y="1828800"/>
            <a:ext cx="73152" cy="868680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1901952"/>
            <a:ext cx="7315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8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223760" y="1920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 현황 &amp; 기회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223760" y="22677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TAM 200조 + 5대 기회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2788920"/>
            <a:ext cx="53949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2788920"/>
            <a:ext cx="73152" cy="868680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2862072"/>
            <a:ext cx="7315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8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645920" y="28803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 환경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645920" y="32278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8개 경쟁 비교 + 빈 슬롯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2788920"/>
            <a:ext cx="53949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0" y="2788920"/>
            <a:ext cx="73152" cy="868680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2862072"/>
            <a:ext cx="7315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8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223760" y="28803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타겟 페르소나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223760" y="32278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4명 (직장인/주부/사장님/HR)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3749040"/>
            <a:ext cx="53949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" y="3749040"/>
            <a:ext cx="73152" cy="868680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3822192"/>
            <a:ext cx="7315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8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1645920" y="38404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가치 제안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645920" y="41879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대상별 Value Prop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17920" y="3749040"/>
            <a:ext cx="53949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17920" y="3749040"/>
            <a:ext cx="73152" cy="868680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46520" y="3822192"/>
            <a:ext cx="7315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8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7223760" y="38404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범위 (MoSCoW)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223760" y="41879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Must 5 / Should 3 / Could 2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" y="4709160"/>
            <a:ext cx="53949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40080" y="4709160"/>
            <a:ext cx="73152" cy="868680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8680" y="4782312"/>
            <a:ext cx="7315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8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1645920" y="48006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차별화 전략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645920" y="51480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6대 차별점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17920" y="4709160"/>
            <a:ext cx="53949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217920" y="4709160"/>
            <a:ext cx="73152" cy="868680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46520" y="4782312"/>
            <a:ext cx="7315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8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2600" dirty="0"/>
          </a:p>
        </p:txBody>
      </p:sp>
      <p:sp>
        <p:nvSpPr>
          <p:cNvPr id="43" name="Text 41"/>
          <p:cNvSpPr/>
          <p:nvPr/>
        </p:nvSpPr>
        <p:spPr>
          <a:xfrm>
            <a:off x="7223760" y="48006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+ 수익 모델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223760" y="51480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광고 60% + 시나리오 3종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40080" y="5669280"/>
            <a:ext cx="53949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40080" y="5669280"/>
            <a:ext cx="73152" cy="868680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68680" y="5742432"/>
            <a:ext cx="7315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8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2600" dirty="0"/>
          </a:p>
        </p:txBody>
      </p:sp>
      <p:sp>
        <p:nvSpPr>
          <p:cNvPr id="48" name="Text 46"/>
          <p:cNvSpPr/>
          <p:nvPr/>
        </p:nvSpPr>
        <p:spPr>
          <a:xfrm>
            <a:off x="1645920" y="57607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일정 + 리스크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1645920" y="61081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24주 6 Phase / R1~R11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217920" y="5669280"/>
            <a:ext cx="53949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5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217920" y="5669280"/>
            <a:ext cx="73152" cy="868680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46520" y="5742432"/>
            <a:ext cx="7315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8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2600" dirty="0"/>
          </a:p>
        </p:txBody>
      </p:sp>
      <p:sp>
        <p:nvSpPr>
          <p:cNvPr id="53" name="Text 51"/>
          <p:cNvSpPr/>
          <p:nvPr/>
        </p:nvSpPr>
        <p:spPr>
          <a:xfrm>
            <a:off x="7223760" y="57607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 KPI / Go-No-Go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7223760" y="61081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M2~M6 단계별 Gate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점심특강 (Lunch Special Lecture) · 서비스 기획서 v1.0 · 2026-05-31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0058400" y="65105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4114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8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EXECUTIVE 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10881360" cy="155448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91640"/>
            <a:ext cx="91440" cy="1554480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2880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"오늘 점심, 어디서 먹지?"를 5초 안에 해결하는,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23317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B7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점심 시간대 × 위치 기반 × 일반 식당의 쿠폰형 마감할인 플랫폼.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283464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GS25가 1년 만에 매출 134.5%를 만들어낸 '마감할인 잉여수익화 모델'의 점심 슬롯(26.1%) × 일반 식당 진영을 선점한다.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520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6개월 핵심 KPI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931920"/>
            <a:ext cx="269748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3931920"/>
            <a:ext cx="2697480" cy="91440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16052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8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50K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777240" y="52578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MAU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7240" y="56235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월간 활성 사용자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29000" y="3931920"/>
            <a:ext cx="269748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29000" y="3931920"/>
            <a:ext cx="2697480" cy="91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66160" y="416052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3,000</a:t>
            </a:r>
            <a:endParaRPr lang="en-US" sz="5400" dirty="0"/>
          </a:p>
        </p:txBody>
      </p:sp>
      <p:sp>
        <p:nvSpPr>
          <p:cNvPr id="19" name="Text 17"/>
          <p:cNvSpPr/>
          <p:nvPr/>
        </p:nvSpPr>
        <p:spPr>
          <a:xfrm>
            <a:off x="3566160" y="52578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 매장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566160" y="56235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강남·여의도 → 서울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3931920"/>
            <a:ext cx="269748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7920" y="3931920"/>
            <a:ext cx="2697480" cy="9144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416052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539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40%</a:t>
            </a:r>
            <a:endParaRPr lang="en-US" sz="5400" dirty="0"/>
          </a:p>
        </p:txBody>
      </p:sp>
      <p:sp>
        <p:nvSpPr>
          <p:cNvPr id="24" name="Text 22"/>
          <p:cNvSpPr/>
          <p:nvPr/>
        </p:nvSpPr>
        <p:spPr>
          <a:xfrm>
            <a:off x="6355080" y="52578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쿠폰 사용률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355080" y="56235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발급 대비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006840" y="3931920"/>
            <a:ext cx="269748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006840" y="3931920"/>
            <a:ext cx="2697480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0" y="416052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5,000만</a:t>
            </a:r>
            <a:endParaRPr lang="en-US" sz="5400" dirty="0"/>
          </a:p>
        </p:txBody>
      </p:sp>
      <p:sp>
        <p:nvSpPr>
          <p:cNvPr id="29" name="Text 27"/>
          <p:cNvSpPr/>
          <p:nvPr/>
        </p:nvSpPr>
        <p:spPr>
          <a:xfrm>
            <a:off x="9144000" y="52578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광고 매출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144000" y="56235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원/월 (M6 기준)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점심특강 (Lunch Special Lecture) · 서비스 기획서 v1.0 · 2026-05-31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058400" y="65105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4114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8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MARKET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 현황 — 200조 푸드테크 TAM × 런치플레이션 YoY 가속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3931920" cy="461772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20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FFB7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외식 + 푸드테크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결합 TAM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</a:t>
            </a:r>
            <a:endParaRPr lang="en-US" sz="13000" dirty="0"/>
          </a:p>
        </p:txBody>
      </p:sp>
      <p:sp>
        <p:nvSpPr>
          <p:cNvPr id="9" name="Text 7"/>
          <p:cNvSpPr/>
          <p:nvPr/>
        </p:nvSpPr>
        <p:spPr>
          <a:xfrm>
            <a:off x="822960" y="46177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 원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822960" y="5349240"/>
            <a:ext cx="356616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5440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외식 150조 + 푸드테크 96조 결합 잠재 시장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5852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· NLM-30 (PwC)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0" y="1691640"/>
            <a:ext cx="2240280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8745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539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892040" y="249631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점심값 인상 체감률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28346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NLM-27 잡코리아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059168" y="1691640"/>
            <a:ext cx="2240280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96328" y="18745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539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67.5%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196328" y="249631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점심 비용 부담 (2025)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196328" y="28346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↑ 65.8% (2024)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363456" y="1691640"/>
            <a:ext cx="2240280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00616" y="18745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+134.5%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9500616" y="249631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GS25 마감할인 매출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500616" y="28346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 80만 개+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54880" y="3236976"/>
            <a:ext cx="2240280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3419856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8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84.6%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4892040" y="404164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식비 지원 회사 선호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92040" y="437997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NLM-14 B2B 근거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059168" y="3236976"/>
            <a:ext cx="2240280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96328" y="3419856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8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26.1%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7196328" y="404164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마감할인 점심대 비중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196328" y="437997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 저녁 55.8%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9363456" y="3236976"/>
            <a:ext cx="2240280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500616" y="3419856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78.9만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9500616" y="404164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외식 사업체 수 (2024)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500616" y="437997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1.1만 순감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754880" y="60807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간편식 의존 YoY 47.0% → 54.1% (+7.1%p) | 외식업 인건비 부담 76.3% | 평균 점심값 9,000~10,000원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점심특강 (Lunch Special Lecture) · 서비스 기획서 v1.0 · 2026-05-31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058400" y="65105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4114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8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 기회 — 5대 진입 동기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972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901952"/>
            <a:ext cx="548640" cy="548640"/>
          </a:xfrm>
          <a:prstGeom prst="ellipse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9019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00200" y="18288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점심 시간대 × 일반 식당 = 빈 슬롯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00200" y="217627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GS25 마감할인 시간대: 저녁 55.8% vs 점심 26.1%. 럭키밀(베이커리)·라스트오더(저녁)·편의점(저녁) 모두 점심 일반 식당 영역은 무주공산.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235440" y="18288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NLM-21, 22, 18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651760"/>
            <a:ext cx="10972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2770632"/>
            <a:ext cx="548640" cy="548640"/>
          </a:xfrm>
          <a:prstGeom prst="ellipse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770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00200" y="26974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잉여수익화 모델 한국 검증 완료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00200" y="304495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GS25 마감할인 매출 +134.5% 신장, 누적 판매량 80만 개+. 동일 메커니즘을 일반 식당 점심특선으로 이식.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235440" y="26974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NLM-21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3520440"/>
            <a:ext cx="10972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" y="3639312"/>
            <a:ext cx="548640" cy="548640"/>
          </a:xfrm>
          <a:prstGeom prst="ellipse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36393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600200" y="35661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런치플레이션 YoY 가속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00200" y="391363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점심 비용 부담 65.8 → 67.5%, 간편식 의존 47.0 → 54.1%. "5초·1만 원 이하" 슬로건의 강력한 가입 트리거.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235440" y="35661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NLM-1, 3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4389120"/>
            <a:ext cx="10972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8680" y="4507992"/>
            <a:ext cx="548640" cy="548640"/>
          </a:xfrm>
          <a:prstGeom prst="ellipse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4507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600200" y="44348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사장님 신규 유입 채널 갈증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600200" y="478231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외식 사업체 1.1만 개 순감, 한식·동네식당 객수 감소. 점심 비수기 좌석 1개 = 새 수익 1단위.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235440" y="44348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NLM-5, 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5257800"/>
            <a:ext cx="10972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8680" y="5376672"/>
            <a:ext cx="548640" cy="548640"/>
          </a:xfrm>
          <a:prstGeom prst="ellipse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" y="5376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600200" y="53035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B2B 법인 멤버십 정량 근거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600200" y="565099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임직원 84.6%가 식비 지원형 복지 선호. 구내식당 미보유 중소기업 공략의 Phase 2 핵심 자산.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235440" y="53035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NLM-2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점심특강 (Lunch Special Lecture) · 서비스 기획서 v1.0 · 2026-05-31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058400" y="65105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4114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8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COMPETITION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 환경 — 점심 × 일반 식당의 빈 슬롯 단독 진입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2926080" cy="41148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916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경쟁사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566160" y="1691640"/>
            <a:ext cx="3474720" cy="41148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03320" y="1691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강점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040880" y="1691640"/>
            <a:ext cx="3200400" cy="41148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78040" y="16916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약점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241280" y="1691640"/>
            <a:ext cx="1645920" cy="41148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378440" y="1691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규모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103120"/>
            <a:ext cx="29260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103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럭키밀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566160" y="2103120"/>
            <a:ext cx="347472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03320" y="21031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일치성 · 50% 고정할인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040880" y="2103120"/>
            <a:ext cx="32004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78040" y="2103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베이커리 한정 · 서울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241280" y="2103120"/>
            <a:ext cx="164592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378440" y="2103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10만+ (1년)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2560320"/>
            <a:ext cx="2926080" cy="457200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2560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라스트오더 (미로)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566160" y="2560320"/>
            <a:ext cx="3474720" cy="457200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03320" y="2560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다양 카테고리 · 평균 40%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040880" y="2560320"/>
            <a:ext cx="3200400" cy="457200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78040" y="25603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저녁/야간 중심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241280" y="2560320"/>
            <a:ext cx="1645920" cy="457200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378440" y="2560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미공개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3017520"/>
            <a:ext cx="29260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3017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GS25 마감할인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566160" y="3017520"/>
            <a:ext cx="347472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03320" y="3017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 +134.5% · 누적 80만 개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040880" y="3017520"/>
            <a:ext cx="32004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78040" y="3017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점심 26.1%, 일반식당 부재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0241280" y="3017520"/>
            <a:ext cx="164592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378440" y="3017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전국 수만 점포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0080" y="3474720"/>
            <a:ext cx="2926080" cy="457200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" y="3474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편의점 PB 도시락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566160" y="3474720"/>
            <a:ext cx="3474720" cy="457200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03320" y="3474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위치·가격·속도 3박자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040880" y="3474720"/>
            <a:ext cx="3200400" cy="457200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78040" y="34747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식당 경험 부재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0241280" y="3474720"/>
            <a:ext cx="1645920" cy="457200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378440" y="3474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전국 수만 점포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40080" y="3931920"/>
            <a:ext cx="29260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77240" y="39319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 Good To Go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566160" y="3931920"/>
            <a:ext cx="347472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703320" y="39319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 1위 · 50~70% 할인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040880" y="3931920"/>
            <a:ext cx="32004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178040" y="3931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미진출 (잠재 위협)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10241280" y="3931920"/>
            <a:ext cx="164592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378440" y="3931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 7,000만+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40080" y="4389120"/>
            <a:ext cx="2926080" cy="457200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77240" y="4389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카카오맵·네이버지도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3566160" y="4389120"/>
            <a:ext cx="3474720" cy="457200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703320" y="43891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압도적 데이터·사용자 기반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7040880" y="4389120"/>
            <a:ext cx="3200400" cy="457200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178040" y="4389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할인·쿠폰 부재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10241280" y="4389120"/>
            <a:ext cx="1645920" cy="457200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378440" y="4389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국민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640080" y="4846320"/>
            <a:ext cx="2926080" cy="502920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77240" y="48463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점심특강 (본 프로젝트)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3566160" y="4846320"/>
            <a:ext cx="3474720" cy="502920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703320" y="48463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점심 특화 + 일반 식당 + 쿠폰·통계 결합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7040880" y="4846320"/>
            <a:ext cx="3200400" cy="502920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178040" y="48463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진입 · 등록 부진 리스크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10241280" y="4846320"/>
            <a:ext cx="1645920" cy="502920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0378440" y="48463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 → MAU 50K (6M)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640080" y="5440680"/>
            <a:ext cx="10972800" cy="868680"/>
          </a:xfrm>
          <a:prstGeom prst="rect">
            <a:avLst/>
          </a:prstGeom>
          <a:solidFill>
            <a:srgbClr val="FFF8E1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40080" y="5440680"/>
            <a:ext cx="91440" cy="868680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68680" y="5486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8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포지셔닝 한 줄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868680" y="5760720"/>
            <a:ext cx="10652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"라스트오더가 저녁의 잉여를 풀었다면, 점심특강은 점심의 빈자리를 채운다. GS25가 키운 마감할인 시장의 점심 26.1% 슬롯 + 일반 식당 진영을 가져온다."</a:t>
            </a:r>
            <a:endParaRPr lang="en-US" sz="1300" dirty="0"/>
          </a:p>
        </p:txBody>
      </p:sp>
      <p:sp>
        <p:nvSpPr>
          <p:cNvPr id="73" name="Shape 71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점심특강 (Lunch Special Lecture) · 서비스 기획서 v1.0 · 2026-05-31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10058400" y="65105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4114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8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PERSONA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타겟 페르소나 — 4 사용자 그룹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44068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783080"/>
            <a:ext cx="5440680" cy="91440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057400"/>
            <a:ext cx="685800" cy="685800"/>
          </a:xfrm>
          <a:prstGeom prst="ellipse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057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45920" y="20756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김대리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45920" y="2377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직장인 · Primary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94960" y="2103120"/>
            <a:ext cx="502920" cy="292608"/>
          </a:xfrm>
          <a:prstGeom prst="roundRect">
            <a:avLst>
              <a:gd name="adj" fmla="val 15625"/>
            </a:avLst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94960" y="210312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286207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8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프로필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508760" y="286207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29세 · 강남 IT 사무직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68680" y="314553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8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니즈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508760" y="314553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 반경 500m, 8~12천 원 가성비 식당 빠른 결정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68680" y="342900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8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통점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508760" y="34290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 불투명 · 1인 가능 여부 불명 · 관계 피로 YoY↑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8680" y="3712464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8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508760" y="371246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5초 안 1만 원 이하 결정 + 1인 좌석 안내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72200" y="1783080"/>
            <a:ext cx="544068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72200" y="1783080"/>
            <a:ext cx="5440680" cy="91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0" y="2057400"/>
            <a:ext cx="685800" cy="6858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2057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7178040" y="20756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이미경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178040" y="2377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주부 · Secondary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927080" y="2103120"/>
            <a:ext cx="502920" cy="292608"/>
          </a:xfrm>
          <a:prstGeom prst="roundRect">
            <a:avLst>
              <a:gd name="adj" fmla="val 15625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927080" y="210312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0" y="286207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프로필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040880" y="286207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42세 · 가족 외식 결정권자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00800" y="314553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니즈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040880" y="314553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가족 모임 합리적 가격대(1~1.5만 원) 동네 맛집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00800" y="342900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통점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040880" y="34290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광고성 후기 다수 · 할인 정보 분산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00800" y="3712464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040880" y="371246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신뢰할 수 있는 동네 맛집의 점심특선·할인 쿠폰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40080" y="4160520"/>
            <a:ext cx="544068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40080" y="4160520"/>
            <a:ext cx="5440680" cy="91440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68680" y="4434840"/>
            <a:ext cx="685800" cy="685800"/>
          </a:xfrm>
          <a:prstGeom prst="ellipse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68680" y="4434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1645920" y="44531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박사장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645920" y="4754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식당 사장님 · Supplier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394960" y="4480560"/>
            <a:ext cx="502920" cy="292608"/>
          </a:xfrm>
          <a:prstGeom prst="roundRect">
            <a:avLst>
              <a:gd name="adj" fmla="val 15625"/>
            </a:avLst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94960" y="448056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68680" y="523951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8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프로필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508760" y="523951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50세 · 강남 30석 한식당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68680" y="552297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8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니즈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508760" y="552297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점심 비수기 빈 좌석 채우기, 신규→단골 전환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68680" y="58064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8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통점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508760" y="580644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인건비 76.3% · 노쇼 1회 44만 원 · ROI 불투명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68680" y="6089904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8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508760" y="608990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 30분 투자로 점심 객수 N명 증가가 보이는 도구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172200" y="4160520"/>
            <a:ext cx="544068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172200" y="4160520"/>
            <a:ext cx="5440680" cy="9144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400800" y="4434840"/>
            <a:ext cx="685800" cy="68580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00800" y="4434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</a:t>
            </a:r>
            <a:endParaRPr lang="en-US" sz="2400" dirty="0"/>
          </a:p>
        </p:txBody>
      </p:sp>
      <p:sp>
        <p:nvSpPr>
          <p:cNvPr id="57" name="Text 55"/>
          <p:cNvSpPr/>
          <p:nvPr/>
        </p:nvSpPr>
        <p:spPr>
          <a:xfrm>
            <a:off x="7178040" y="44531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HR 김과장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7178040" y="4754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B2B 법인 · Phase 2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10927080" y="4480560"/>
            <a:ext cx="502920" cy="292608"/>
          </a:xfrm>
          <a:prstGeom prst="roundRect">
            <a:avLst>
              <a:gd name="adj" fmla="val 15625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927080" y="448056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P2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6400800" y="523951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프로필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7040880" y="523951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38세 · 강남 50인 IT 스타트업 인사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6400800" y="552297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니즈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7040880" y="552297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구내식당 없이 임직원 식비 복지 제공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6400800" y="58064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통점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7040880" y="580644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임직원 행선지 불명 · 영수증 관리 부담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6400800" y="6089904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7040880" y="608990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84.6%가 선호하는 식비 지원형 복지 자동화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점심특강 (Lunch Special Lecture) · 서비스 기획서 v1.0 · 2026-05-31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10058400" y="65105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4114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8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· STRATEGY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가치 제안 (Value Proposition)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972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783080"/>
            <a:ext cx="2103120" cy="1005840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830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직장인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926080" y="189280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점심시간 1시간 안에 회사 반경 500m, 1만 원 이하 점심특선을 5초로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926080" y="2441448"/>
            <a:ext cx="85039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0" y="24688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정량 근거  </a:t>
            </a:r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점심값 부담 67.5% · 가격 우선 67.9% · 점심시간 1시간 이내 56.3%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880360"/>
            <a:ext cx="10972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880360"/>
            <a:ext cx="2103120" cy="10058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8803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주부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926080" y="299008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가족 외식·모임 합리적 가격대 동네 맛집, 검증된 쿠폰까지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926080" y="3538728"/>
            <a:ext cx="85039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0" y="35661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정량 근거  </a:t>
            </a:r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맘카페 광고성 후기 한계 · 가성비 매장 11% 성장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3977640"/>
            <a:ext cx="10972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3977640"/>
            <a:ext cx="2103120" cy="100584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9776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식당 사장님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926080" y="40873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점심 비수기 빈 좌석을 자동으로 채우고, 객수·재방문이 숫자로 보이는 단 하나의 마케팅 도구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926080" y="4636008"/>
            <a:ext cx="85039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0" y="466344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정량 근거  </a:t>
            </a:r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GS25 마감할인 +134.5% 검증 · 30일 재방문율 KPI 표준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5074920"/>
            <a:ext cx="10972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5074920"/>
            <a:ext cx="210312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50749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B2B 법인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2926080" y="518464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임직원 84.6%가 선호하는 모바일 식권 쿠폰, 구내식당 신축 없이 식비 복지 완성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926080" y="5733288"/>
            <a:ext cx="85039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26080" y="576072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정량 근거  </a:t>
            </a:r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식비 지원형 회사 선호 84.6% · 구내식당 정성 한계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점심특강 (Lunch Special Lecture) · 서비스 기획서 v1.0 · 2026-05-31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058400" y="65105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4114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8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· SCOPE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범위 — MoSCoW Prioritization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44068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783080"/>
            <a:ext cx="5440680" cy="50292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78308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Must (MVP)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468880"/>
            <a:ext cx="4983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F1 위치 기반 식당 탐색 (500m/1km/2km)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F2 점심특선 한눈에 보기 메인 피드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F3 제휴 쿠폰 발급/사용 (QR + 본인 인증)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F4 사장님 매장·특선 관리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F5 사장님 쿠폰 발행 + 통계 대시보드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72200" y="1783080"/>
            <a:ext cx="544068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72200" y="1783080"/>
            <a:ext cx="5440680" cy="502920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78308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Should (Phase 2)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4983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리뷰·평점 (등록 매장 1,000+ 이후)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즐겨찾기·위치 트리거 푸시 알림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B2B 법인 멤버십 (식권 + 정산 대시보드)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4069080"/>
            <a:ext cx="544068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4069080"/>
            <a:ext cx="544068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06908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Could (Phase 3)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8680" y="4754880"/>
            <a:ext cx="4983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광고 상품 정식 운영 (상단·추천 슬롯)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친구 초대·공유, 카카오·네이버페이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72200" y="4069080"/>
            <a:ext cx="544068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72200" y="4069080"/>
            <a:ext cx="5440680" cy="50292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406908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Won't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0" y="4754880"/>
            <a:ext cx="4983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배달 기능 — 영구 제외 ("방문 외식" 포지셔닝)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테이블 예약 — Phase 4 검토 (노쇼 정책 필요)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점심특강 (Lunch Special Lecture) · 서비스 기획서 v1.0 · 2026-05-31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058400" y="65105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4114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8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· DIFFERENTIATION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차별화 전략 — 6대 무기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593592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116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8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868680" y="2834640"/>
            <a:ext cx="548640" cy="0"/>
          </a:xfrm>
          <a:prstGeom prst="line">
            <a:avLst/>
          </a:prstGeom>
          <a:noFill/>
          <a:ln w="25400">
            <a:solidFill>
              <a:srgbClr val="FF8F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926080"/>
            <a:ext cx="3227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점심 × 일반 식당 = 단독 영역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456432"/>
            <a:ext cx="3227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GS25(저녁) · 럭키밀(베이커리) · 라스트오더(저녁) 약점이 모두 본 서비스의 강점.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25112" y="1828800"/>
            <a:ext cx="3593592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07992" y="20116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12" name="Shape 10"/>
          <p:cNvSpPr/>
          <p:nvPr/>
        </p:nvSpPr>
        <p:spPr>
          <a:xfrm>
            <a:off x="4553712" y="2834640"/>
            <a:ext cx="548640" cy="0"/>
          </a:xfrm>
          <a:prstGeom prst="line">
            <a:avLst/>
          </a:prstGeom>
          <a:noFill/>
          <a:ln w="254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07992" y="2926080"/>
            <a:ext cx="3227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일치성 마케팅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07992" y="3456432"/>
            <a:ext cx="3227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"점심특선 11~14시 = 직장인 점심시간". 위치 500m + 시간 윈도우 푸시.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010144" y="1828800"/>
            <a:ext cx="3593592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93024" y="20116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539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17" name="Shape 15"/>
          <p:cNvSpPr/>
          <p:nvPr/>
        </p:nvSpPr>
        <p:spPr>
          <a:xfrm>
            <a:off x="8238744" y="2834640"/>
            <a:ext cx="548640" cy="0"/>
          </a:xfrm>
          <a:prstGeom prst="line">
            <a:avLst/>
          </a:prstGeom>
          <a:noFill/>
          <a:ln w="25400">
            <a:solidFill>
              <a:srgbClr val="E539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93024" y="2926080"/>
            <a:ext cx="3227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사장님 ROI 가시화 (락인)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93024" y="3456432"/>
            <a:ext cx="3227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Razzoo's KPI 공식을 한국형 4지표(신규/재방문/사용률/객단가)로 1화면 집약.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4206240"/>
            <a:ext cx="3593592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38912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22" name="Shape 20"/>
          <p:cNvSpPr/>
          <p:nvPr/>
        </p:nvSpPr>
        <p:spPr>
          <a:xfrm>
            <a:off x="868680" y="5212080"/>
            <a:ext cx="548640" cy="0"/>
          </a:xfrm>
          <a:prstGeom prst="line">
            <a:avLst/>
          </a:prstGeom>
          <a:noFill/>
          <a:ln w="254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5303520"/>
            <a:ext cx="3227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B2B 법인 멤버십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2960" y="5833872"/>
            <a:ext cx="3227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84.6% 식비 지원 선호 정량 근거. 구내식당 미보유 중소기업 단독 공략.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25112" y="4206240"/>
            <a:ext cx="3593592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07992" y="438912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8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27" name="Shape 25"/>
          <p:cNvSpPr/>
          <p:nvPr/>
        </p:nvSpPr>
        <p:spPr>
          <a:xfrm>
            <a:off x="4553712" y="5212080"/>
            <a:ext cx="548640" cy="0"/>
          </a:xfrm>
          <a:prstGeom prst="line">
            <a:avLst/>
          </a:prstGeom>
          <a:noFill/>
          <a:ln w="25400">
            <a:solidFill>
              <a:srgbClr val="FF8F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07992" y="5303520"/>
            <a:ext cx="3227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관계 피로 해소형 1인 점심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07992" y="5833872"/>
            <a:ext cx="3227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관계 스트레스 지표 YoY 모두 상승. "1인 좌석/빠른 결제" 메타데이터 차별화.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010144" y="4206240"/>
            <a:ext cx="3593592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93024" y="438912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4400" dirty="0"/>
          </a:p>
        </p:txBody>
      </p:sp>
      <p:sp>
        <p:nvSpPr>
          <p:cNvPr id="32" name="Shape 30"/>
          <p:cNvSpPr/>
          <p:nvPr/>
        </p:nvSpPr>
        <p:spPr>
          <a:xfrm>
            <a:off x="8238744" y="5212080"/>
            <a:ext cx="548640" cy="0"/>
          </a:xfrm>
          <a:prstGeom prst="line">
            <a:avLst/>
          </a:prstGeom>
          <a:noFill/>
          <a:ln w="25400">
            <a:solidFill>
              <a:srgbClr val="2E7D3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93024" y="5303520"/>
            <a:ext cx="3227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진짜 식당 with 편의점 가격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193024" y="5833872"/>
            <a:ext cx="3227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편의점 도시락 2,000원대 대체재로 5~9천 원 점심특선(할인가) 상단 노출.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점심특강 (Lunch Special Lecture) · 서비스 기획서 v1.0 · 2026-05-31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058400" y="65105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4114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8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· BRAND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아이덴티티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6400800" cy="4434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6596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점심특강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68680" y="257860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Lunch Special Lecture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3035808"/>
            <a:ext cx="5943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1546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8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SLOGAN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68680" y="34290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"오늘 점심, 5초면 끝."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68680" y="39319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직장인 타깃 / "동네 점심특선, 한 번에." (주부 타깃)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4348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8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KEYWORDS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68680" y="4709160"/>
            <a:ext cx="914400" cy="347472"/>
          </a:xfrm>
          <a:prstGeom prst="roundRect">
            <a:avLst>
              <a:gd name="adj" fmla="val 13158"/>
            </a:avLst>
          </a:prstGeom>
          <a:solidFill>
            <a:srgbClr val="FFF3E0"/>
          </a:solidFill>
          <a:ln w="6350">
            <a:solidFill>
              <a:srgbClr val="FF8F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7091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7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#점심특선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874520" y="4709160"/>
            <a:ext cx="914400" cy="347472"/>
          </a:xfrm>
          <a:prstGeom prst="roundRect">
            <a:avLst>
              <a:gd name="adj" fmla="val 13158"/>
            </a:avLst>
          </a:prstGeom>
          <a:solidFill>
            <a:srgbClr val="FFF3E0"/>
          </a:solidFill>
          <a:ln w="6350">
            <a:solidFill>
              <a:srgbClr val="FF8F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74520" y="47091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7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#5초결정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880360" y="4709160"/>
            <a:ext cx="914400" cy="347472"/>
          </a:xfrm>
          <a:prstGeom prst="roundRect">
            <a:avLst>
              <a:gd name="adj" fmla="val 13158"/>
            </a:avLst>
          </a:prstGeom>
          <a:solidFill>
            <a:srgbClr val="FFF3E0"/>
          </a:solidFill>
          <a:ln w="6350">
            <a:solidFill>
              <a:srgbClr val="FF8F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80360" y="47091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7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#위치기반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886200" y="4709160"/>
            <a:ext cx="768096" cy="347472"/>
          </a:xfrm>
          <a:prstGeom prst="roundRect">
            <a:avLst>
              <a:gd name="adj" fmla="val 13158"/>
            </a:avLst>
          </a:prstGeom>
          <a:solidFill>
            <a:srgbClr val="FFF3E0"/>
          </a:solidFill>
          <a:ln w="6350">
            <a:solidFill>
              <a:srgbClr val="FF8F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86200" y="4709160"/>
            <a:ext cx="768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7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#가성비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45736" y="4709160"/>
            <a:ext cx="621792" cy="347472"/>
          </a:xfrm>
          <a:prstGeom prst="roundRect">
            <a:avLst>
              <a:gd name="adj" fmla="val 13158"/>
            </a:avLst>
          </a:prstGeom>
          <a:solidFill>
            <a:srgbClr val="FFF3E0"/>
          </a:solidFill>
          <a:ln w="6350">
            <a:solidFill>
              <a:srgbClr val="FF8F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45736" y="4709160"/>
            <a:ext cx="621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7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#쿠폰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58968" y="4709160"/>
            <a:ext cx="914400" cy="347472"/>
          </a:xfrm>
          <a:prstGeom prst="roundRect">
            <a:avLst>
              <a:gd name="adj" fmla="val 13158"/>
            </a:avLst>
          </a:prstGeom>
          <a:solidFill>
            <a:srgbClr val="FFF3E0"/>
          </a:solidFill>
          <a:ln w="6350">
            <a:solidFill>
              <a:srgbClr val="FF8F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58968" y="47091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7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#혼밥OK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68680" y="52578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8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NAMING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68680" y="553212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"점심특선" + "특강" 언어유희 — 오늘의 점심을 강의처럼 알려준다는 친근한 학습·발견 메타포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178040" y="1783080"/>
            <a:ext cx="4434840" cy="4434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60920" y="1920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8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COLOR SYSTEM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360920" y="2423160"/>
            <a:ext cx="1188720" cy="1005840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0" y="246888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Primary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686800" y="278892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#FFA726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686800" y="30632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오렌지 옐로 · 식욕·점심시간 햇살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360920" y="3611880"/>
            <a:ext cx="1188720" cy="100584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86800" y="365760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Secondary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686800" y="397764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#43A047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686800" y="42519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그린 · 가성비·신선함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360920" y="4800600"/>
            <a:ext cx="1188720" cy="1005840"/>
          </a:xfrm>
          <a:prstGeom prst="rect">
            <a:avLst/>
          </a:prstGeom>
          <a:solidFill>
            <a:srgbClr val="FF5722"/>
          </a:solidFill>
          <a:ln w="12700">
            <a:solidFill>
              <a:srgbClr val="FF572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86800" y="484632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Accent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686800" y="51663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#FF5722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686800" y="54406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코랄 레드 · 할인·한정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점심특강 (Lunch Special Lecture) · 서비스 기획서 v1.0 · 2026-05-31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058400" y="65105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4114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8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· BUSINESS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수익 모델 &amp; 6개월 시나리오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783080"/>
          <a:ext cx="45720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440680" y="1783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6개월 시점 매출 시나리오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40680" y="2194560"/>
            <a:ext cx="61722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40680" y="2194560"/>
            <a:ext cx="91440" cy="123444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23560" y="2286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보수적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623560" y="26517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2,685만 원/월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9738360" y="2377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MAU 30K  ·  매장 1.5K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623560" y="3108960"/>
            <a:ext cx="5897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 전환 10% · 쿠폰 5K건/일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40680" y="3520440"/>
            <a:ext cx="61722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440680" y="3520440"/>
            <a:ext cx="91440" cy="1234440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23560" y="3611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(목표)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623560" y="39776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6,105만 원/월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9738360" y="3703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MAU 50K  ·  매장 3K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623560" y="4434840"/>
            <a:ext cx="5897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 전환 15% · 쿠폰 12K건/일 (사용률 40%) · 목표 5,000만 초과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440680" y="4846320"/>
            <a:ext cx="61722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440680" y="4846320"/>
            <a:ext cx="91440" cy="1234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623560" y="4937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낙관적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623560" y="530352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1억 310만 원/월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9738360" y="5029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MAU 70K  ·  매장 4.5K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623560" y="5760720"/>
            <a:ext cx="5897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 전환 20% · B2B 법인 5사 (총 500명)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점심특강 (Lunch Special Lecture) · 서비스 기획서 v1.0 · 2026-05-31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058400" y="65105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4114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8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· 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일정 — 24주 6 Phase 로드맵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371600" cy="502920"/>
          </a:xfrm>
          <a:prstGeom prst="rect">
            <a:avLst/>
          </a:prstGeom>
          <a:solidFill>
            <a:srgbClr val="FF8F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74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0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011680" y="1874520"/>
            <a:ext cx="91440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0" y="18745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2w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926080" y="1874520"/>
            <a:ext cx="3200400" cy="502920"/>
          </a:xfrm>
          <a:prstGeom prst="rect">
            <a:avLst/>
          </a:prstGeom>
          <a:solidFill>
            <a:srgbClr val="E5393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0" y="18745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7w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126480" y="1874520"/>
            <a:ext cx="18288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1874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4w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955280" y="1874520"/>
            <a:ext cx="1828800" cy="502920"/>
          </a:xfrm>
          <a:prstGeom prst="rect">
            <a:avLst/>
          </a:prstGeom>
          <a:solidFill>
            <a:srgbClr val="FFB74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0" y="1874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4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4w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784080" y="1874520"/>
            <a:ext cx="1371600" cy="502920"/>
          </a:xfrm>
          <a:prstGeom prst="rect">
            <a:avLst/>
          </a:prstGeom>
          <a:solidFill>
            <a:srgbClr val="E67E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84080" y="1874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5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3w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1155680" y="1874520"/>
            <a:ext cx="914400" cy="502920"/>
          </a:xfrm>
          <a:prstGeom prst="rect">
            <a:avLst/>
          </a:prstGeom>
          <a:solidFill>
            <a:srgbClr val="1F293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155680" y="18745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6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2w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24231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669280" y="24231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8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W12 (M2)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412480" y="24231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8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W20 (M3)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24231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8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W24 (M4)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0080" y="2880360"/>
            <a:ext cx="1280160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28803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920240" y="2880360"/>
            <a:ext cx="2286000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11680" y="2880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206240" y="2880360"/>
            <a:ext cx="1554480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97680" y="2880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기간 (주)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760720" y="2880360"/>
            <a:ext cx="1280160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52160" y="28803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마일스톤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040880" y="2880360"/>
            <a:ext cx="4572000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32320" y="28803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산출물 / 목표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0080" y="3246120"/>
            <a:ext cx="128016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080" y="3246120"/>
            <a:ext cx="54864" cy="393192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3246120"/>
            <a:ext cx="1051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0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920240" y="3246120"/>
            <a:ext cx="228600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57400" y="3246120"/>
            <a:ext cx="2057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206240" y="3246120"/>
            <a:ext cx="155448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43400" y="3246120"/>
            <a:ext cx="1325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W1-W3 (3w)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760720" y="3246120"/>
            <a:ext cx="128016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97880" y="3246120"/>
            <a:ext cx="1051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M0/M1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040880" y="3246120"/>
            <a:ext cx="457200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78040" y="3246120"/>
            <a:ext cx="4343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통합자료실 + 02.기획문서 7종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40080" y="3639312"/>
            <a:ext cx="1280160" cy="393192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0080" y="3639312"/>
            <a:ext cx="54864" cy="3931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77240" y="3639312"/>
            <a:ext cx="1051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920240" y="3639312"/>
            <a:ext cx="2286000" cy="393192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057400" y="3639312"/>
            <a:ext cx="2057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셋업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206240" y="3639312"/>
            <a:ext cx="1554480" cy="393192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343400" y="3639312"/>
            <a:ext cx="1325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W4-W5 (2w)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760720" y="3639312"/>
            <a:ext cx="1280160" cy="393192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97880" y="3639312"/>
            <a:ext cx="1051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040880" y="3639312"/>
            <a:ext cx="4572000" cy="393192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178040" y="3639312"/>
            <a:ext cx="4343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인프라·DB·디자인 + 스캐폴딩 + CI/CD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40080" y="4032504"/>
            <a:ext cx="128016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40080" y="4032504"/>
            <a:ext cx="54864" cy="39319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77240" y="4032504"/>
            <a:ext cx="1051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1920240" y="4032504"/>
            <a:ext cx="228600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057400" y="4032504"/>
            <a:ext cx="2057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 알파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206240" y="4032504"/>
            <a:ext cx="155448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343400" y="4032504"/>
            <a:ext cx="1325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W6-W12 (7w)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5760720" y="4032504"/>
            <a:ext cx="128016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897880" y="4032504"/>
            <a:ext cx="1051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M2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7040880" y="4032504"/>
            <a:ext cx="457200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178040" y="4032504"/>
            <a:ext cx="4343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F1 탐색 + F4 매장 관리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640080" y="4425696"/>
            <a:ext cx="1280160" cy="393192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40080" y="4425696"/>
            <a:ext cx="54864" cy="3931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77240" y="4425696"/>
            <a:ext cx="1051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1920240" y="4425696"/>
            <a:ext cx="2286000" cy="393192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057400" y="4425696"/>
            <a:ext cx="2057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 베타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4206240" y="4425696"/>
            <a:ext cx="1554480" cy="393192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343400" y="4425696"/>
            <a:ext cx="1325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W13-W16 (4w)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5760720" y="4425696"/>
            <a:ext cx="1280160" cy="393192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897880" y="4425696"/>
            <a:ext cx="1051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7040880" y="4425696"/>
            <a:ext cx="4572000" cy="393192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178040" y="4425696"/>
            <a:ext cx="4343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F2 특선 피드 + F5 통계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640080" y="4818888"/>
            <a:ext cx="128016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40080" y="4818888"/>
            <a:ext cx="54864" cy="393192"/>
          </a:xfrm>
          <a:prstGeom prst="rect">
            <a:avLst/>
          </a:prstGeom>
          <a:solidFill>
            <a:srgbClr val="FFB74D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77240" y="4818888"/>
            <a:ext cx="1051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4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1920240" y="4818888"/>
            <a:ext cx="228600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057400" y="4818888"/>
            <a:ext cx="2057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 RC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4206240" y="4818888"/>
            <a:ext cx="155448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343400" y="4818888"/>
            <a:ext cx="1325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W17-W20 (4w)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5760720" y="4818888"/>
            <a:ext cx="128016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897880" y="4818888"/>
            <a:ext cx="1051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7040880" y="4818888"/>
            <a:ext cx="457200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178040" y="4818888"/>
            <a:ext cx="4343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F3 쿠폰 + 푸시 + 본인 인증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640080" y="5212080"/>
            <a:ext cx="1280160" cy="393192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40080" y="5212080"/>
            <a:ext cx="54864" cy="393192"/>
          </a:xfrm>
          <a:prstGeom prst="rect">
            <a:avLst/>
          </a:prstGeom>
          <a:solidFill>
            <a:srgbClr val="E67E00"/>
          </a:solidFill>
          <a:ln w="12700">
            <a:solidFill>
              <a:srgbClr val="E67E0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77240" y="5212080"/>
            <a:ext cx="1051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5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1920240" y="5212080"/>
            <a:ext cx="2286000" cy="393192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2057400" y="5212080"/>
            <a:ext cx="2057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클로즈드 베타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4206240" y="5212080"/>
            <a:ext cx="1554480" cy="393192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343400" y="5212080"/>
            <a:ext cx="1325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W20-W22 (3w)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5760720" y="5212080"/>
            <a:ext cx="1280160" cy="393192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5897880" y="5212080"/>
            <a:ext cx="1051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M3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7040880" y="5212080"/>
            <a:ext cx="4572000" cy="393192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7178040" y="5212080"/>
            <a:ext cx="4343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강남·여의도 50개 매장 × 500명</a:t>
            </a:r>
            <a:endParaRPr lang="en-US" sz="1000" dirty="0"/>
          </a:p>
        </p:txBody>
      </p:sp>
      <p:sp>
        <p:nvSpPr>
          <p:cNvPr id="99" name="Shape 97"/>
          <p:cNvSpPr/>
          <p:nvPr/>
        </p:nvSpPr>
        <p:spPr>
          <a:xfrm>
            <a:off x="640080" y="5605272"/>
            <a:ext cx="128016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640080" y="5605272"/>
            <a:ext cx="54864" cy="393192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777240" y="5605272"/>
            <a:ext cx="1051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6</a:t>
            </a:r>
            <a:endParaRPr lang="en-US" sz="1000" dirty="0"/>
          </a:p>
        </p:txBody>
      </p:sp>
      <p:sp>
        <p:nvSpPr>
          <p:cNvPr id="102" name="Shape 100"/>
          <p:cNvSpPr/>
          <p:nvPr/>
        </p:nvSpPr>
        <p:spPr>
          <a:xfrm>
            <a:off x="1920240" y="5605272"/>
            <a:ext cx="228600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2057400" y="5605272"/>
            <a:ext cx="2057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정식 출시</a:t>
            </a:r>
            <a:endParaRPr lang="en-US" sz="1000" dirty="0"/>
          </a:p>
        </p:txBody>
      </p:sp>
      <p:sp>
        <p:nvSpPr>
          <p:cNvPr id="104" name="Shape 102"/>
          <p:cNvSpPr/>
          <p:nvPr/>
        </p:nvSpPr>
        <p:spPr>
          <a:xfrm>
            <a:off x="4206240" y="5605272"/>
            <a:ext cx="155448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343400" y="5605272"/>
            <a:ext cx="1325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W23-W24 (2w)</a:t>
            </a:r>
            <a:endParaRPr lang="en-US" sz="1000" dirty="0"/>
          </a:p>
        </p:txBody>
      </p:sp>
      <p:sp>
        <p:nvSpPr>
          <p:cNvPr id="106" name="Shape 104"/>
          <p:cNvSpPr/>
          <p:nvPr/>
        </p:nvSpPr>
        <p:spPr>
          <a:xfrm>
            <a:off x="5760720" y="5605272"/>
            <a:ext cx="128016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5897880" y="5605272"/>
            <a:ext cx="1051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M4</a:t>
            </a:r>
            <a:endParaRPr lang="en-US" sz="1000" dirty="0"/>
          </a:p>
        </p:txBody>
      </p:sp>
      <p:sp>
        <p:nvSpPr>
          <p:cNvPr id="108" name="Shape 106"/>
          <p:cNvSpPr/>
          <p:nvPr/>
        </p:nvSpPr>
        <p:spPr>
          <a:xfrm>
            <a:off x="7040880" y="5605272"/>
            <a:ext cx="457200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7178040" y="5605272"/>
            <a:ext cx="4343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출시 + 점심 피크 모니터링</a:t>
            </a:r>
            <a:endParaRPr lang="en-US" sz="1000" dirty="0"/>
          </a:p>
        </p:txBody>
      </p:sp>
      <p:sp>
        <p:nvSpPr>
          <p:cNvPr id="110" name="Shape 108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점심특강 (Lunch Special Lecture) · 서비스 기획서 v1.0 · 2026-05-31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10058400" y="65105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4114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8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· RISK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 관리 — 핵심 11종 중 High Impact 5건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972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783080"/>
            <a:ext cx="914400" cy="7772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8308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8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91640" y="185623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편의점 PB + GS25 자체 마감할인 대체재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0" y="185623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539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🔴 High × High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91640" y="2203704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  </a:t>
            </a:r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"같은 가격대로 진짜 식당 경험" 메시지, 편의점 점심 슬롯(26.1%) 빈 자리 집중 공략, 실시간 운영 상태 차별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651760"/>
            <a:ext cx="10972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651760"/>
            <a:ext cx="914400" cy="7772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65176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8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R1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91640" y="272491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식당 등록 부진 → 콘텐츠 공백 → 사용자 이탈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0" y="272491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539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🟡 Med × High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691640" y="3072384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  </a:t>
            </a:r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6개월 등록 수수료 면제, 영업팀 2명 차출, 앵커 매장(인기 맛집) 우선 입점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3520440"/>
            <a:ext cx="10972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3520440"/>
            <a:ext cx="914400" cy="7772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52044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8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R5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691640" y="359359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점심 피크 (11~14시) 트래픽 폭증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86800" y="35935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539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🟡 Med × High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691640" y="3941064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  </a:t>
            </a:r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Vercel Edge + Supabase read replica, 사전 부하 테스트 10만 동접 시뮬레이션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4389120"/>
            <a:ext cx="10972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4389120"/>
            <a:ext cx="914400" cy="7772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3891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8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R10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691640" y="446227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법규 변경 (위치정보·개인정보)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686800" y="446227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539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🟡 Low × High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691640" y="4809744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  </a:t>
            </a:r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1회 법무 검토, 동의 흐름·로그 보관 표준 준수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5257800"/>
            <a:ext cx="10972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" y="5257800"/>
            <a:ext cx="914400" cy="7772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525780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8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R3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691640" y="533095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쿠폰 악용 (양도·도용)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686800" y="533095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539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🟠 High × Med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691640" y="5678424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  </a:t>
            </a:r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본인 인증 의무, 1일 사용 횟수 제한, QR 1회 사용 토큰, 위치 기반 사용 검증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외 R4 (DAU 한계), R6 (TGTG 국내 진출), R7 (사장님 모바일 격차), R8 (광고 ROI), R9 (신규 경쟁자), R11 (개발 범위) 모니터링 — 주간/월간/분기 사이클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점심특강 (Lunch Special Lecture) · 서비스 기획서 v1.0 · 2026-05-31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058400" y="65105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4114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8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 · KPI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 KPI &amp; Go / No-Go Gate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단계별 KPI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109728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103120"/>
            <a:ext cx="73152" cy="457200"/>
          </a:xfrm>
          <a:prstGeom prst="rect">
            <a:avLst/>
          </a:prstGeom>
          <a:solidFill>
            <a:srgbClr val="FFB74D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103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Closed Beta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97480" y="21031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B7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M3 · W20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0" y="210312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매장 50 / 사용자 500 / 사용률 25%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606040"/>
            <a:ext cx="10972800" cy="457200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606040"/>
            <a:ext cx="73152" cy="457200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606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정식 출시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97480" y="26060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8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M4 · W23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97680" y="260604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매장 500 / MAU 10K / 사용률 30%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108960"/>
            <a:ext cx="109728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108960"/>
            <a:ext cx="73152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108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Growth (M5~M6)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97480" y="31089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297680" y="310896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MAU 50K / 매장 3K / DAU/MAU 30%+ / 매출 5,000만 원/월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3611880"/>
            <a:ext cx="10972800" cy="457200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3611880"/>
            <a:ext cx="73152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3611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Scale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697480" y="36118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M7~M12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297680" y="361188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MAU 100K / 매장 6K / B2B 임직원 500명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4389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 / No-Go Gate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0080" y="4800600"/>
            <a:ext cx="26974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" y="4800600"/>
            <a:ext cx="2697480" cy="38404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480060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M2 · W12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77240" y="527608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  </a:t>
            </a:r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F1+F4 핵심 동선 가동 + 내부 테스트 100%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77240" y="5824728"/>
            <a:ext cx="2423160" cy="0"/>
          </a:xfrm>
          <a:prstGeom prst="line">
            <a:avLst/>
          </a:prstGeom>
          <a:noFill/>
          <a:ln w="381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587959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NO-GO  </a:t>
            </a:r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 재계획 + 기능 축소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429000" y="4800600"/>
            <a:ext cx="26974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429000" y="4800600"/>
            <a:ext cx="2697480" cy="38404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66160" y="480060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M3 · W20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566160" y="527608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  </a:t>
            </a:r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강남·여의도 매장 50 + 사용자 500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566160" y="5824728"/>
            <a:ext cx="2423160" cy="0"/>
          </a:xfrm>
          <a:prstGeom prst="line">
            <a:avLst/>
          </a:prstGeom>
          <a:noFill/>
          <a:ln w="381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66160" y="587959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NO-GO  </a:t>
            </a:r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영업팀 추가 투입 / 베타 1주 연기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17920" y="4800600"/>
            <a:ext cx="26974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17920" y="4800600"/>
            <a:ext cx="2697480" cy="38404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55080" y="480060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M4 · W23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355080" y="527608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  </a:t>
            </a:r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uptime 99.5% + 본인 인증·쿠폰 악용 검증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355080" y="5824728"/>
            <a:ext cx="2423160" cy="0"/>
          </a:xfrm>
          <a:prstGeom prst="line">
            <a:avLst/>
          </a:prstGeom>
          <a:noFill/>
          <a:ln w="381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55080" y="587959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NO-GO  </a:t>
            </a:r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출시 2주 연기 + Vercel Pro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9006840" y="4800600"/>
            <a:ext cx="26974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006840" y="4800600"/>
            <a:ext cx="2697480" cy="38404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144000" y="480060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M6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9144000" y="527608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  </a:t>
            </a:r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MAU 50K + 매장 3K + 사용률 40% 중 2+ 달성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9144000" y="5824728"/>
            <a:ext cx="2423160" cy="0"/>
          </a:xfrm>
          <a:prstGeom prst="line">
            <a:avLst/>
          </a:prstGeom>
          <a:noFill/>
          <a:ln w="3810">
            <a:solidFill>
              <a:srgbClr val="E5E7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44000" y="587959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NO-GO  </a:t>
            </a:r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 전면 재검토 (B2B 가속 등)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점심특강 (Lunch Special Lecture) · 서비스 기획서 v1.0 · 2026-05-31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0058400" y="65105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95760" y="0"/>
            <a:ext cx="365760" cy="6858000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40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F8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 Actions — W3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서비스기획서 User Sign-off 후 W3 기획 산출물(요구사항·기능명세·API·IA·화면설계) 자동 생성으로 진입합니다.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10972800" cy="502920"/>
          </a:xfrm>
          <a:prstGeom prst="rect">
            <a:avLst/>
          </a:prstGeom>
          <a:solidFill>
            <a:srgbClr val="374151"/>
          </a:solidFill>
          <a:ln w="6350">
            <a:solidFill>
              <a:srgbClr val="4B55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606040"/>
            <a:ext cx="548640" cy="502920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6060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25880" y="2606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서비스기획서 검토 + User Sign-off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0" y="26060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332720" y="26060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8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W3 마감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200400"/>
            <a:ext cx="10972800" cy="502920"/>
          </a:xfrm>
          <a:prstGeom prst="rect">
            <a:avLst/>
          </a:prstGeom>
          <a:solidFill>
            <a:srgbClr val="374151"/>
          </a:solidFill>
          <a:ln w="6350">
            <a:solidFill>
              <a:srgbClr val="4B556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200400"/>
            <a:ext cx="548640" cy="502920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2004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25880" y="32004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요구사항정의서 작성 (#5)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0" y="32004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기획자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332720" y="32004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8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794760"/>
            <a:ext cx="10972800" cy="502920"/>
          </a:xfrm>
          <a:prstGeom prst="rect">
            <a:avLst/>
          </a:prstGeom>
          <a:solidFill>
            <a:srgbClr val="374151"/>
          </a:solidFill>
          <a:ln w="6350">
            <a:solidFill>
              <a:srgbClr val="4B556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794760"/>
            <a:ext cx="548640" cy="502920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7947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25880" y="37947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기능명세서 작성 (#6)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0" y="37947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기획자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332720" y="37947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8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W3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389120"/>
            <a:ext cx="10972800" cy="502920"/>
          </a:xfrm>
          <a:prstGeom prst="rect">
            <a:avLst/>
          </a:prstGeom>
          <a:solidFill>
            <a:srgbClr val="374151"/>
          </a:solidFill>
          <a:ln w="6350">
            <a:solidFill>
              <a:srgbClr val="4B556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4389120"/>
            <a:ext cx="548640" cy="502920"/>
          </a:xfrm>
          <a:prstGeom prst="rect">
            <a:avLst/>
          </a:prstGeom>
          <a:solidFill>
            <a:srgbClr val="FFB74D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3891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325880" y="43891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Group A 병렬 생성 (#7 API스펙 / #8 정보구조도 / #11 시스템 / #15 테스트)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686800" y="43891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기획자 + 백엔드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332720" y="43891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B7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W3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4983480"/>
            <a:ext cx="10972800" cy="502920"/>
          </a:xfrm>
          <a:prstGeom prst="rect">
            <a:avLst/>
          </a:prstGeom>
          <a:solidFill>
            <a:srgbClr val="374151"/>
          </a:solidFill>
          <a:ln w="6350">
            <a:solidFill>
              <a:srgbClr val="4B556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" y="4983480"/>
            <a:ext cx="548640" cy="502920"/>
          </a:xfrm>
          <a:prstGeom prst="rect">
            <a:avLst/>
          </a:prstGeom>
          <a:solidFill>
            <a:srgbClr val="FFB74D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49834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325880" y="49834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화면설계서 작성 (#9)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686800" y="4983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기획자 + 디자이너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0332720" y="49834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B7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W3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0080" y="5989320"/>
            <a:ext cx="3657600" cy="0"/>
          </a:xfrm>
          <a:prstGeom prst="line">
            <a:avLst/>
          </a:prstGeom>
          <a:noFill/>
          <a:ln w="19050">
            <a:solidFill>
              <a:srgbClr val="FF8F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문서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PRD.md · 착수보고서 v1.2 · 마켓리서치 v1.1  ·  </a:t>
            </a:r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NotebookLM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노트북 9dbea701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점심특강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점심특강 서비스 기획서 v1.0</dc:title>
  <dc:subject>PptxGenJS Presentation</dc:subject>
  <dc:creator>PM (점심특강 기획팀)</dc:creator>
  <cp:lastModifiedBy>PM (점심특강 기획팀)</cp:lastModifiedBy>
  <cp:revision>1</cp:revision>
  <dcterms:created xsi:type="dcterms:W3CDTF">2026-05-31T06:16:25Z</dcterms:created>
  <dcterms:modified xsi:type="dcterms:W3CDTF">2026-05-31T06:16:25Z</dcterms:modified>
</cp:coreProperties>
</file>